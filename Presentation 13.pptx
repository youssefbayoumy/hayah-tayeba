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iew from inside a stone structure, looking out toward stairs and a clear, blue sky"/>
          <p:cNvSpPr/>
          <p:nvPr>
            <p:ph type="pic" idx="21"/>
          </p:nvPr>
        </p:nvSpPr>
        <p:spPr>
          <a:xfrm>
            <a:off x="0" y="-1270000"/>
            <a:ext cx="24384000" cy="16272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A modern white building with glass panels against a clear, blue sky"/>
          <p:cNvSpPr/>
          <p:nvPr>
            <p:ph type="pic" idx="21"/>
          </p:nvPr>
        </p:nvSpPr>
        <p:spPr>
          <a:xfrm>
            <a:off x="92710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Small section of a modern shell bridge in Qingdao, Shandong, China with a partly cloudy sky above"/>
          <p:cNvSpPr/>
          <p:nvPr>
            <p:ph type="pic" idx="22"/>
          </p:nvPr>
        </p:nvSpPr>
        <p:spPr>
          <a:xfrm>
            <a:off x="9271000" y="1263848"/>
            <a:ext cx="16773843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Low angle exterior view of a modern building facade covered with aluminum discs under a clear, blue sky"/>
          <p:cNvSpPr/>
          <p:nvPr>
            <p:ph type="pic" sz="quarter" idx="21"/>
          </p:nvPr>
        </p:nvSpPr>
        <p:spPr>
          <a:xfrm>
            <a:off x="15417800" y="1270000"/>
            <a:ext cx="8144934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 angle view of a modern, curved building under a cloudy sky"/>
          <p:cNvSpPr/>
          <p:nvPr>
            <p:ph type="pic" sz="quarter" idx="22"/>
          </p:nvPr>
        </p:nvSpPr>
        <p:spPr>
          <a:xfrm>
            <a:off x="15443200" y="7086600"/>
            <a:ext cx="8138580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View from inside a modern white building with glass panels, looking up to a bright, partly cloudy sky"/>
          <p:cNvSpPr/>
          <p:nvPr>
            <p:ph type="pic" idx="23"/>
          </p:nvPr>
        </p:nvSpPr>
        <p:spPr>
          <a:xfrm>
            <a:off x="-124635" y="1270000"/>
            <a:ext cx="16840169" cy="112437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 angle view of the Azadi Tower in Tehran, Iran against a clear, bright sky"/>
          <p:cNvSpPr/>
          <p:nvPr>
            <p:ph type="pic" idx="21"/>
          </p:nvPr>
        </p:nvSpPr>
        <p:spPr>
          <a:xfrm>
            <a:off x="0" y="-1282700"/>
            <a:ext cx="24384000" cy="162814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السابقون السابقون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algn="r" defTabSz="759459" rtl="1">
              <a:defRPr sz="3312"/>
            </a:lvl1pPr>
          </a:lstStyle>
          <a:p>
            <a:pPr/>
            <a:r>
              <a:t> ‏السابقون السابقون</a:t>
            </a:r>
          </a:p>
        </p:txBody>
      </p:sp>
      <p:sp>
        <p:nvSpPr>
          <p:cNvPr id="172" name="الحياة الطيبة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 ‏الحياة الطيبة</a:t>
            </a:r>
          </a:p>
        </p:txBody>
      </p:sp>
      <p:pic>
        <p:nvPicPr>
          <p:cNvPr id="173" name="pasted-movie.heic" descr="pasted-movie.heic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954832" y="7992854"/>
            <a:ext cx="4476480" cy="4411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مقدمة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r" rtl="1">
              <a:defRPr/>
            </a:lvl1pPr>
          </a:lstStyle>
          <a:p>
            <a:pPr/>
            <a:r>
              <a:t>مقدمة</a:t>
            </a:r>
          </a:p>
        </p:txBody>
      </p:sp>
      <p:sp>
        <p:nvSpPr>
          <p:cNvPr id="176" name="رحلتنا  في الproject بتاعنا كنا بندور يعني ايه  الحياة  ، نوصلها ازاي و ندخلها ازاي (اتعرفنا علي شوية ابواب  ممكن ندخل منها ،دورنا علي معانيها و الخطوات بتاعة الدخول…"/>
          <p:cNvSpPr txBox="1"/>
          <p:nvPr>
            <p:ph type="body" idx="1"/>
          </p:nvPr>
        </p:nvSpPr>
        <p:spPr>
          <a:xfrm>
            <a:off x="1206500" y="4243609"/>
            <a:ext cx="21971000" cy="8256012"/>
          </a:xfrm>
          <a:prstGeom prst="rect">
            <a:avLst/>
          </a:prstGeom>
        </p:spPr>
        <p:txBody>
          <a:bodyPr/>
          <a:lstStyle/>
          <a:p>
            <a:pPr algn="r" defTabSz="635634" rtl="1">
              <a:spcBef>
                <a:spcPts val="1300"/>
              </a:spcBef>
              <a:defRPr spc="-42" sz="4235"/>
            </a:pPr>
            <a:r>
              <a:t>رحلتنا  في الproject بتاعنا كنا بندور يعني ايه  الحياة  ، نوصلها ازاي و ندخلها ازاي (اتعرفنا علي شوية ابواب  ممكن ندخل منها ،دورنا علي معانيها و الخطوات بتاعة الدخول</a:t>
            </a:r>
          </a:p>
          <a:p>
            <a:pPr algn="r" defTabSz="635634" rtl="1">
              <a:spcBef>
                <a:spcPts val="1300"/>
              </a:spcBef>
              <a:defRPr spc="-42" sz="4235"/>
            </a:pPr>
            <a:r>
              <a:t> </a:t>
            </a:r>
          </a:p>
          <a:p>
            <a:pPr algn="r" defTabSz="635634" rtl="1">
              <a:spcBef>
                <a:spcPts val="1300"/>
              </a:spcBef>
              <a:defRPr spc="-42" sz="4235"/>
            </a:pPr>
            <a:r>
              <a:t>و جت المرحلة اللي بعدها نستمر في اي عمل ازاي و ده بيكون بالbaby steps و التعود</a:t>
            </a:r>
          </a:p>
          <a:p>
            <a:pPr algn="r" defTabSz="635634" rtl="1">
              <a:spcBef>
                <a:spcPts val="1300"/>
              </a:spcBef>
              <a:defRPr spc="-42" sz="4235"/>
            </a:pPr>
            <a:r>
              <a:t> </a:t>
            </a:r>
          </a:p>
          <a:p>
            <a:pPr algn="r" defTabSz="635634" rtl="1">
              <a:spcBef>
                <a:spcPts val="1300"/>
              </a:spcBef>
              <a:defRPr spc="-42" sz="4235"/>
            </a:pPr>
            <a:r>
              <a:t>و نعلي و نرتقي ازاي (لازم يكون فيه هدف واضح 👁️و نيه صادقة 💖و حاجة اقدر أقيسها 📏 و يكون فيه وقفات استراحة في الطريق✋ تخليني أشوف أنا كنت فين و عايزة أوصل  لفين علشان اتأكد اني برتقي🪜 و اشجع نفسي و احفزها 👏⭐️</a:t>
            </a:r>
          </a:p>
          <a:p>
            <a:pPr algn="r" defTabSz="635634" rtl="1">
              <a:spcBef>
                <a:spcPts val="1300"/>
              </a:spcBef>
              <a:defRPr spc="-42" sz="4235"/>
            </a:pPr>
          </a:p>
          <a:p>
            <a:pPr algn="r" defTabSz="635634" rtl="1">
              <a:spcBef>
                <a:spcPts val="1300"/>
              </a:spcBef>
              <a:defRPr spc="-42" sz="4235"/>
            </a:pPr>
            <a:r>
              <a:t>و  ده ممكن يطلع برانا لو النية صادقة اني انفع نفسي و انفع غيري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الترقي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r" rtl="1">
              <a:defRPr/>
            </a:lvl1pPr>
          </a:lstStyle>
          <a:p>
            <a:pPr/>
            <a:r>
              <a:t>الترقي</a:t>
            </a:r>
          </a:p>
        </p:txBody>
      </p:sp>
      <p:sp>
        <p:nvSpPr>
          <p:cNvPr id="179" name="يساعدنا في الانتقال من مجرد البدايه والثبات الي التدرج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algn="r" rtl="1">
              <a:defRPr/>
            </a:pPr>
            <a:r>
              <a:t>يساعدنا في الانتقال من مجرد البدايه والثبات الي التدرج </a:t>
            </a:r>
          </a:p>
          <a:p>
            <a:pPr algn="r" rtl="1">
              <a:defRPr/>
            </a:pPr>
            <a:r>
              <a:t>و الوصول الي القرب من الله مع وجود الايمان والعمل الصالح </a:t>
            </a:r>
          </a:p>
          <a:p>
            <a:pPr algn="r" rtl="1">
              <a:defRPr/>
            </a:pPr>
            <a:r>
              <a:t>محتاجين </a:t>
            </a:r>
          </a:p>
          <a:p>
            <a:pPr algn="r" rtl="1">
              <a:defRPr/>
            </a:pPr>
            <a:r>
              <a:t>١- ندخل الباب  (بدايه الطريق)</a:t>
            </a:r>
          </a:p>
          <a:p>
            <a:pPr algn="r" rtl="1">
              <a:defRPr/>
            </a:pPr>
            <a:r>
              <a:t>٢-نثبت فيه (الاستمرار وعدم النقطاع)</a:t>
            </a:r>
          </a:p>
          <a:p>
            <a:pPr algn="r" rtl="1">
              <a:defRPr/>
            </a:pPr>
            <a:r>
              <a:t>٣-نترقي فيه (الاحسان والعلو الروحي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أمثلة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r" rtl="1">
              <a:defRPr/>
            </a:lvl1pPr>
          </a:lstStyle>
          <a:p>
            <a:pPr/>
            <a:r>
              <a:t>أمثلة</a:t>
            </a:r>
          </a:p>
        </p:txBody>
      </p:sp>
      <p:sp>
        <p:nvSpPr>
          <p:cNvPr id="182" name="الإيمان:…"/>
          <p:cNvSpPr txBox="1"/>
          <p:nvPr>
            <p:ph type="body" idx="1"/>
          </p:nvPr>
        </p:nvSpPr>
        <p:spPr>
          <a:xfrm>
            <a:off x="-588901" y="3124893"/>
            <a:ext cx="21971001" cy="9176577"/>
          </a:xfrm>
          <a:prstGeom prst="rect">
            <a:avLst/>
          </a:prstGeom>
        </p:spPr>
        <p:txBody>
          <a:bodyPr/>
          <a:lstStyle/>
          <a:p>
            <a:pPr algn="r" defTabSz="330200" rtl="1">
              <a:spcBef>
                <a:spcPts val="700"/>
              </a:spcBef>
              <a:defRPr b="1" spc="-26" sz="2640"/>
            </a:pPr>
            <a:r>
              <a:t>الإيمان: 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ندخله بالتوبه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نستمر بالذكر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نترقي باليقين والتوكل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باب القران: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ندخله بالتلاوه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نستمر بالورد اليومي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نترقي بالتدبر والعمل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و من الايات 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(هم درجات عند الله)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(ولكل درجات مما عملو)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(يرفع الله الذين امنو منكم والذين اوتو العلم درجات)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والترقي معناه جميل ان الإنسان لايكتفي بمجرد النجاه بل يسعي الي الاحسان والقرب والسمو</a:t>
            </a:r>
          </a:p>
          <a:p>
            <a:pPr algn="r" defTabSz="330200" rtl="1">
              <a:spcBef>
                <a:spcPts val="700"/>
              </a:spcBef>
              <a:defRPr b="1" spc="-26" sz="2640"/>
            </a:pPr>
            <a:r>
              <a:t>🌹🌹🌹🌹🌹🌹🌹</a:t>
            </a:r>
          </a:p>
          <a:p>
            <a:pPr algn="r" defTabSz="330200" rtl="1">
              <a:spcBef>
                <a:spcPts val="700"/>
              </a:spcBef>
              <a:defRPr spc="-26" sz="2640"/>
            </a:pPr>
            <a:r>
              <a:t>ايه اللي يساعدني أوصل لمعية الله؟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**معية الله* *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r" defTabSz="2218888" rtl="1">
              <a:defRPr b="0" spc="-163" sz="8190"/>
            </a:lvl1pPr>
          </a:lstStyle>
          <a:p>
            <a:pPr/>
            <a:r>
              <a:t>**معية الله* * </a:t>
            </a:r>
          </a:p>
        </p:txBody>
      </p:sp>
      <p:sp>
        <p:nvSpPr>
          <p:cNvPr id="185" name="يعني ربنا مع خلقه في كل وقت و أين ما كنا ويعرف ومطلع و محيط بكل حاجة في الأرض وفي السماء وهو معنا أينما كنا ولا يخفى عليه شيء…"/>
          <p:cNvSpPr txBox="1"/>
          <p:nvPr>
            <p:ph type="body" idx="1"/>
          </p:nvPr>
        </p:nvSpPr>
        <p:spPr>
          <a:xfrm>
            <a:off x="1206500" y="3160304"/>
            <a:ext cx="22382174" cy="9344212"/>
          </a:xfrm>
          <a:prstGeom prst="rect">
            <a:avLst/>
          </a:prstGeom>
        </p:spPr>
        <p:txBody>
          <a:bodyPr/>
          <a:lstStyle/>
          <a:p>
            <a:pPr algn="r" defTabSz="330200" rtl="1">
              <a:spcBef>
                <a:spcPts val="700"/>
              </a:spcBef>
              <a:defRPr b="1" spc="-23" sz="2360"/>
            </a:pPr>
            <a:r>
              <a:t>يعني ربنا مع خلقه في كل وقت و أين ما كنا ويعرف ومطلع و محيط بكل حاجة في الأرض وفي السماء وهو معنا أينما كنا ولا يخفى عليه شيء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ازاي 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 استشعر أن ربنا شايفني و سامعني في كل وقت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كثرة الذكر والاستغفار 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التقرب إليه بأداء الفرائض و العبادات (زي الصلاة في وقتها والصوم ،النوافل)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أتوكل علي الله حق توكل 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صدق الإيمان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بر الوالدين والتقوى(اعمل الصح في الوقت الصح)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 أعمال صالحة *والإحسان* في كل عمل 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و الصبر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{إِنَّ اللَّهَ مَعَ الَّذِينَ اتَّقَوْا وَالَّذِينَ هُمْ مُحْسِنُونَ}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قولُه تَعالَى: وَهُوَ مَعَكُمْ أَيْنَ مَا كُنْتُمْ [الحديد: 4]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إن الله مع الصابرين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لا تحزن إن الله معنا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كلا إن معي ربي سيهدين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لا تخاف إني معكما أسمع واري</a:t>
            </a:r>
          </a:p>
          <a:p>
            <a:pPr algn="r" defTabSz="330200" rtl="1">
              <a:spcBef>
                <a:spcPts val="700"/>
              </a:spcBef>
              <a:defRPr b="1" spc="-23" sz="2360"/>
            </a:pPr>
            <a:r>
              <a:t>إذ يوحي ربك إلى الملائكة إني معكم فثبتوا الذين آمنوا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**  الإيمان والعمل الصالح**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r" defTabSz="2292038" rtl="1">
              <a:defRPr spc="-159" sz="7990"/>
            </a:lvl1pPr>
          </a:lstStyle>
          <a:p>
            <a:pPr/>
            <a:r>
              <a:t>**  الإيمان والعمل الصالح**</a:t>
            </a:r>
          </a:p>
        </p:txBody>
      </p:sp>
      <p:sp>
        <p:nvSpPr>
          <p:cNvPr id="188" name="( بالله و جميع الرسل و اليوم الاخر )…"/>
          <p:cNvSpPr txBox="1"/>
          <p:nvPr>
            <p:ph type="body" idx="1"/>
          </p:nvPr>
        </p:nvSpPr>
        <p:spPr>
          <a:xfrm>
            <a:off x="1206500" y="2855377"/>
            <a:ext cx="21971000" cy="9649139"/>
          </a:xfrm>
          <a:prstGeom prst="rect">
            <a:avLst/>
          </a:prstGeom>
        </p:spPr>
        <p:txBody>
          <a:bodyPr/>
          <a:lstStyle/>
          <a:p>
            <a:pPr algn="r" defTabSz="792479" rtl="1">
              <a:spcBef>
                <a:spcPts val="1700"/>
              </a:spcBef>
              <a:defRPr spc="-52" sz="5280"/>
            </a:pPr>
            <a:r>
              <a:t>( بالله و جميع الرسل و اليوم الاخر ) </a:t>
            </a:r>
          </a:p>
          <a:p>
            <a:pPr algn="r" defTabSz="792479" rtl="1">
              <a:spcBef>
                <a:spcPts val="1700"/>
              </a:spcBef>
              <a:defRPr spc="-52" sz="5280"/>
            </a:pPr>
            <a:r>
              <a:t>معناه… التصديق الاعتقاد الجازم بوجود ربنا</a:t>
            </a:r>
          </a:p>
          <a:p>
            <a:pPr algn="r" defTabSz="792479" rtl="1">
              <a:spcBef>
                <a:spcPts val="1700"/>
              </a:spcBef>
              <a:defRPr spc="-52" sz="5280"/>
            </a:pPr>
          </a:p>
          <a:p>
            <a:pPr algn="r" defTabSz="792479" rtl="1">
              <a:spcBef>
                <a:spcPts val="1700"/>
              </a:spcBef>
              <a:defRPr spc="-52" sz="5280"/>
            </a:pPr>
            <a:r>
              <a:t>يزيد الإيمان في القلب ويتثبت بقراءة القرآن بتدبر، وكثرة ذكر الله، وفهم و معرفة أسماء الله الحسنى</a:t>
            </a:r>
          </a:p>
          <a:p>
            <a:pPr algn="r" defTabSz="792479" rtl="1">
              <a:spcBef>
                <a:spcPts val="1700"/>
              </a:spcBef>
              <a:defRPr spc="-52" sz="5280"/>
            </a:pPr>
            <a:r>
              <a:t>و فعل الخيرات و تجنب المعاصي و اشوف بعمل ايه غلط و احاول أصلحه و الصحبة الصالحة و التفكير و التأمل في خلق الله وعظيم صنعه في الكون والخشوع و الأمانة و مساعدة الناس</a:t>
            </a:r>
          </a:p>
          <a:p>
            <a:pPr algn="r" defTabSz="792479" rtl="1">
              <a:spcBef>
                <a:spcPts val="1700"/>
              </a:spcBef>
              <a:defRPr spc="-52" sz="5280"/>
            </a:pPr>
            <a:r>
              <a:t>احاول يكون عندي نيه حلوة صادقة في كل حاجة بعملها</a:t>
            </a:r>
          </a:p>
          <a:p>
            <a:pPr algn="r" defTabSz="792479" rtl="1">
              <a:spcBef>
                <a:spcPts val="1700"/>
              </a:spcBef>
              <a:defRPr spc="-52" sz="528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التزكية ليست أن نصنع في أنفسنا شيئا جديدا بل هي رحلة عودة إلى الفطرة التي فطرنا الله عليها حتى يعود الإنسان بسيطا واضحا  بقلب صاف ومتزن…"/>
          <p:cNvSpPr txBox="1"/>
          <p:nvPr>
            <p:ph type="body" idx="1"/>
          </p:nvPr>
        </p:nvSpPr>
        <p:spPr>
          <a:xfrm>
            <a:off x="1269130" y="2432308"/>
            <a:ext cx="21132934" cy="10636499"/>
          </a:xfrm>
          <a:prstGeom prst="rect">
            <a:avLst/>
          </a:prstGeom>
        </p:spPr>
        <p:txBody>
          <a:bodyPr/>
          <a:lstStyle/>
          <a:p>
            <a:pPr marL="0" indent="0" algn="r" defTabSz="1877520">
              <a:spcBef>
                <a:spcPts val="3400"/>
              </a:spcBef>
              <a:buSzTx/>
              <a:buNone/>
              <a:defRPr sz="3696"/>
            </a:pPr>
          </a:p>
          <a:p>
            <a:pPr marL="0" indent="0" algn="r" defTabSz="1877520">
              <a:spcBef>
                <a:spcPts val="3400"/>
              </a:spcBef>
              <a:buSzTx/>
              <a:buNone/>
              <a:defRPr sz="3696"/>
            </a:pPr>
            <a:r>
              <a:rPr b="1" u="sng"/>
              <a:t>التزكية </a:t>
            </a:r>
            <a:r>
              <a:t>ليست أن نصنع في أنفسنا شيئا جديدا بل هي رحلة عودة إلى الفطرة التي فطرنا الله عليها حتى يعود الإنسان بسيطا واضحا  بقلب صاف ومتزن</a:t>
            </a:r>
          </a:p>
          <a:p>
            <a:pPr marL="0" indent="0" algn="r" defTabSz="1877520">
              <a:spcBef>
                <a:spcPts val="3400"/>
              </a:spcBef>
              <a:buSzTx/>
              <a:buNone/>
              <a:defRPr sz="3696"/>
            </a:pPr>
            <a:r>
              <a:rPr b="1" u="sng"/>
              <a:t>التخلية</a:t>
            </a:r>
            <a:r>
              <a:t>: تطهير القلب والنفس من الكبر والرياء والحسد  والغيبة  والظلم  وسوء الظن والتعلق بغير الله</a:t>
            </a:r>
            <a:r>
              <a:rPr u="sng"/>
              <a:t> </a:t>
            </a:r>
            <a:endParaRPr u="sng"/>
          </a:p>
          <a:p>
            <a:pPr marL="0" indent="0" algn="r" defTabSz="1877520">
              <a:spcBef>
                <a:spcPts val="3400"/>
              </a:spcBef>
              <a:buSzTx/>
              <a:buNone/>
              <a:defRPr sz="3696"/>
            </a:pPr>
            <a:r>
              <a:t>وتكون بالوعي  و تهذيب النفس والتوبة والاستغفار</a:t>
            </a:r>
          </a:p>
          <a:p>
            <a:pPr marL="0" indent="0" algn="r" defTabSz="1877520">
              <a:spcBef>
                <a:spcPts val="3400"/>
              </a:spcBef>
              <a:buSzTx/>
              <a:buNone/>
              <a:defRPr sz="3696"/>
            </a:pPr>
            <a:r>
              <a:t>﴿قد افلح من زكاها وقد خاب من دساها)</a:t>
            </a:r>
          </a:p>
          <a:p>
            <a:pPr marL="0" indent="0" algn="r" defTabSz="1877520">
              <a:spcBef>
                <a:spcPts val="3400"/>
              </a:spcBef>
              <a:buSzTx/>
              <a:buNone/>
              <a:defRPr sz="3696"/>
            </a:pPr>
            <a:r>
              <a:t>وقال: ﴿و ذروا ظاهر الاثم وباطنه)</a:t>
            </a:r>
          </a:p>
          <a:p>
            <a:pPr marL="0" indent="0" algn="r" defTabSz="1877520">
              <a:spcBef>
                <a:spcPts val="3400"/>
              </a:spcBef>
              <a:buSzTx/>
              <a:buNone/>
              <a:defRPr sz="3696"/>
            </a:pPr>
          </a:p>
          <a:p>
            <a:pPr marL="0" indent="0" algn="r" defTabSz="1877520">
              <a:spcBef>
                <a:spcPts val="3400"/>
              </a:spcBef>
              <a:buSzTx/>
              <a:buNone/>
              <a:defRPr sz="3696"/>
            </a:pPr>
            <a:r>
              <a:rPr b="1" u="sng"/>
              <a:t>التحلية</a:t>
            </a:r>
            <a:r>
              <a:t>: ملء النفس بالإيمان والطاعة والأخلاق الحسنة  كالصدق والصبر والتوكل وحسن الظن والرضا والرحمة</a:t>
            </a:r>
            <a:endParaRPr u="sng"/>
          </a:p>
          <a:p>
            <a:pPr marL="0" indent="0" algn="r" defTabSz="1877520">
              <a:spcBef>
                <a:spcPts val="3400"/>
              </a:spcBef>
              <a:buSzTx/>
              <a:buNone/>
              <a:defRPr sz="3696"/>
            </a:pPr>
            <a:r>
              <a:t>﴿من عمل صالحا من ذكر او انثي وهو مومن فلنحيينه حياه طيبه)</a:t>
            </a:r>
          </a:p>
          <a:p>
            <a:pPr marL="0" indent="0" algn="r" defTabSz="1877520">
              <a:spcBef>
                <a:spcPts val="3400"/>
              </a:spcBef>
              <a:buSzTx/>
              <a:buNone/>
              <a:defRPr sz="3696"/>
            </a:pPr>
            <a:r>
              <a:t>﴿إِلا من اتي الله بقلب سليم)</a:t>
            </a:r>
          </a:p>
        </p:txBody>
      </p:sp>
      <p:sp>
        <p:nvSpPr>
          <p:cNvPr id="191" name="باب التخلية والتحلية والتزكية"/>
          <p:cNvSpPr txBox="1"/>
          <p:nvPr>
            <p:ph type="title"/>
          </p:nvPr>
        </p:nvSpPr>
        <p:spPr>
          <a:xfrm>
            <a:off x="8283303" y="575679"/>
            <a:ext cx="9779001" cy="1713665"/>
          </a:xfrm>
          <a:prstGeom prst="rect">
            <a:avLst/>
          </a:prstGeom>
        </p:spPr>
        <p:txBody>
          <a:bodyPr/>
          <a:lstStyle>
            <a:lvl1pPr defTabSz="975335">
              <a:lnSpc>
                <a:spcPct val="90000"/>
              </a:lnSpc>
              <a:spcBef>
                <a:spcPts val="1800"/>
              </a:spcBef>
              <a:defRPr b="0" spc="0" sz="6000"/>
            </a:lvl1pPr>
          </a:lstStyle>
          <a:p>
            <a:pPr/>
            <a:r>
              <a:t>باب التخلية والتحلية والتزكية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ثم يأتي التجلي فعندما يزول القبيح بالتخلية وينمو الخير بالتحلية  يظهر الجمال الفطري الذي أودعه الله فينا فيعود القلب كالمرآة المصقولة  يرى الحق حقاوالباطل باطلا ويعيش في سكون وسلام.…"/>
          <p:cNvSpPr txBox="1"/>
          <p:nvPr>
            <p:ph type="body" idx="1"/>
          </p:nvPr>
        </p:nvSpPr>
        <p:spPr>
          <a:xfrm>
            <a:off x="1874555" y="2098281"/>
            <a:ext cx="21132935" cy="10636498"/>
          </a:xfrm>
          <a:prstGeom prst="rect">
            <a:avLst/>
          </a:prstGeom>
        </p:spPr>
        <p:txBody>
          <a:bodyPr/>
          <a:lstStyle/>
          <a:p>
            <a:pPr marL="0" indent="0" algn="r" defTabSz="2365188">
              <a:spcBef>
                <a:spcPts val="4300"/>
              </a:spcBef>
              <a:buSzTx/>
              <a:buNone/>
              <a:defRPr sz="4656"/>
            </a:pPr>
          </a:p>
          <a:p>
            <a:pPr marL="0" indent="0" algn="r" defTabSz="2365188">
              <a:spcBef>
                <a:spcPts val="4300"/>
              </a:spcBef>
              <a:buSzTx/>
              <a:buNone/>
              <a:defRPr sz="4656"/>
            </a:pPr>
            <a:r>
              <a:t>ثم يأتي </a:t>
            </a:r>
            <a:r>
              <a:rPr b="1" u="sng"/>
              <a:t>التجلي</a:t>
            </a:r>
            <a:r>
              <a:t> فعندما يزول القبيح بالتخلية وينمو الخير بالتحلية  يظهر الجمال الفطري الذي أودعه الله فينا فيعود القلب كالمرآة المصقولة  يرى الحق حقاوالباطل باطلا ويعيش في سكون وسلام.</a:t>
            </a:r>
          </a:p>
          <a:p>
            <a:pPr marL="0" indent="0" algn="r" defTabSz="2365188">
              <a:spcBef>
                <a:spcPts val="4300"/>
              </a:spcBef>
              <a:buSzTx/>
              <a:buNone/>
              <a:defRPr sz="4656"/>
            </a:pPr>
          </a:p>
          <a:p>
            <a:pPr marL="0" indent="0" algn="r" defTabSz="2365188">
              <a:spcBef>
                <a:spcPts val="4300"/>
              </a:spcBef>
              <a:buSzTx/>
              <a:buNone/>
              <a:defRPr sz="4656"/>
            </a:pPr>
            <a:r>
              <a:t>و</a:t>
            </a:r>
            <a:r>
              <a:rPr u="sng"/>
              <a:t>مركز التزكية</a:t>
            </a:r>
            <a:r>
              <a:t> هو الافتقار إلى الله؛ فحين تدرك النفس حاجتها إلى ربها تعود إلى حجمها الطبيعي  وتتحول الطاعة من عبء إلى راحة ووصل وسكن وترى النعم بعين الفضل.</a:t>
            </a:r>
          </a:p>
          <a:p>
            <a:pPr marL="0" indent="0" algn="r" defTabSz="2365188">
              <a:spcBef>
                <a:spcPts val="4300"/>
              </a:spcBef>
              <a:buSzTx/>
              <a:buNone/>
              <a:defRPr sz="4656"/>
            </a:pPr>
            <a:r>
              <a:t>والتزكية ليست أن تصبح خارقا  بل أن تعود إنسانا كما أرادك الله، بقلب صافٍ ونفس متزنة وعبد مفتقر إلى مولاه</a:t>
            </a:r>
          </a:p>
          <a:p>
            <a:pPr marL="0" indent="0" algn="r" defTabSz="2365188">
              <a:spcBef>
                <a:spcPts val="4300"/>
              </a:spcBef>
              <a:buSzTx/>
              <a:buNone/>
              <a:defRPr sz="4656"/>
            </a:pPr>
          </a:p>
          <a:p>
            <a:pPr marL="0" indent="0" algn="r" defTabSz="2365188">
              <a:spcBef>
                <a:spcPts val="4300"/>
              </a:spcBef>
              <a:buSzTx/>
              <a:buNone/>
              <a:defRPr sz="4656"/>
            </a:pPr>
            <a:r>
              <a:t>﴿قد افلح من زكاها)</a:t>
            </a:r>
          </a:p>
        </p:txBody>
      </p:sp>
      <p:sp>
        <p:nvSpPr>
          <p:cNvPr id="194" name="باب التخلية والتحلية والتزكية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975335">
              <a:lnSpc>
                <a:spcPct val="90000"/>
              </a:lnSpc>
              <a:spcBef>
                <a:spcPts val="1800"/>
              </a:spcBef>
              <a:defRPr b="0" spc="0" sz="6000"/>
            </a:lvl1pPr>
          </a:lstStyle>
          <a:p>
            <a:pPr/>
            <a:r>
              <a:t>باب التخلية والتحلية والتزكية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اقربكم إلى مجلسا احاسنكم أخلاقا"/>
          <p:cNvSpPr txBox="1"/>
          <p:nvPr>
            <p:ph type="body" idx="21"/>
          </p:nvPr>
        </p:nvSpPr>
        <p:spPr>
          <a:xfrm>
            <a:off x="8534238" y="1809290"/>
            <a:ext cx="9779001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379729">
              <a:defRPr sz="2530"/>
            </a:lvl1pPr>
          </a:lstStyle>
          <a:p>
            <a:pPr/>
            <a:r>
              <a:t>اقربكم إلى مجلسا احاسنكم أخلاقا</a:t>
            </a:r>
          </a:p>
        </p:txBody>
      </p:sp>
      <p:sp>
        <p:nvSpPr>
          <p:cNvPr id="197" name="ليس البر ان تولوا وجوهكم قبل المشرق والمغرب...الى اخر الايه هذه الايه تجمع الدين كله  عقيده وعباده واخلاق ومعاملات فهي القاسم المشترك بين الناس جميعا…"/>
          <p:cNvSpPr txBox="1"/>
          <p:nvPr>
            <p:ph type="body" idx="1"/>
          </p:nvPr>
        </p:nvSpPr>
        <p:spPr>
          <a:xfrm>
            <a:off x="3502942" y="3580448"/>
            <a:ext cx="20240454" cy="8256630"/>
          </a:xfrm>
          <a:prstGeom prst="rect">
            <a:avLst/>
          </a:prstGeom>
        </p:spPr>
        <p:txBody>
          <a:bodyPr/>
          <a:lstStyle/>
          <a:p>
            <a:pPr marL="0" indent="0" algn="r" defTabSz="1682453">
              <a:spcBef>
                <a:spcPts val="3100"/>
              </a:spcBef>
              <a:buSzTx/>
              <a:buNone/>
              <a:defRPr b="1" sz="3864"/>
            </a:pPr>
          </a:p>
          <a:p>
            <a:pPr marL="0" indent="0" algn="r" defTabSz="1682453">
              <a:spcBef>
                <a:spcPts val="3100"/>
              </a:spcBef>
              <a:buSzTx/>
              <a:buNone/>
              <a:defRPr b="1" sz="3864"/>
            </a:pPr>
            <a:r>
              <a:t>ليس البر ان تولوا وجوهكم قبل المشرق والمغرب...الى اخر الايه هذه الايه تجمع الدين كله  عقيده وعباده واخلاق ومعاملات فهي القاسم المشترك بين الناس جميعا</a:t>
            </a:r>
          </a:p>
          <a:p>
            <a:pPr marL="0" indent="0" algn="r" defTabSz="1682453">
              <a:spcBef>
                <a:spcPts val="3100"/>
              </a:spcBef>
              <a:buSzTx/>
              <a:buNone/>
              <a:defRPr b="1" sz="3864"/>
            </a:pPr>
          </a:p>
          <a:p>
            <a:pPr marL="0" indent="0" algn="r" defTabSz="1682453">
              <a:spcBef>
                <a:spcPts val="3100"/>
              </a:spcBef>
              <a:buSzTx/>
              <a:buNone/>
              <a:defRPr b="1" sz="3864"/>
            </a:pPr>
            <a:r>
              <a:t>وقولوا للناس حسنا</a:t>
            </a:r>
          </a:p>
          <a:p>
            <a:pPr marL="0" indent="0" algn="r" defTabSz="1682453">
              <a:spcBef>
                <a:spcPts val="3100"/>
              </a:spcBef>
              <a:buSzTx/>
              <a:buNone/>
              <a:defRPr b="1" sz="3864"/>
            </a:pPr>
          </a:p>
          <a:p>
            <a:pPr marL="0" indent="0" algn="r" defTabSz="1682453">
              <a:spcBef>
                <a:spcPts val="3100"/>
              </a:spcBef>
              <a:buSzTx/>
              <a:buNone/>
              <a:defRPr b="1" sz="3864"/>
            </a:pPr>
            <a:r>
              <a:t>ادع إلى سبيل ربك بالحكمة والموعظة الحسنة وجادلهم بالتي هي أحسن</a:t>
            </a:r>
          </a:p>
          <a:p>
            <a:pPr marL="0" indent="0" algn="r" defTabSz="1682453">
              <a:spcBef>
                <a:spcPts val="3100"/>
              </a:spcBef>
              <a:buSzTx/>
              <a:buNone/>
              <a:defRPr b="1" sz="3864"/>
            </a:pPr>
          </a:p>
          <a:p>
            <a:pPr marL="0" indent="0" algn="r" defTabSz="1682453">
              <a:spcBef>
                <a:spcPts val="3100"/>
              </a:spcBef>
              <a:buSzTx/>
              <a:buNone/>
              <a:defRPr b="1" sz="3864"/>
            </a:pPr>
            <a:r>
              <a:t>وقول الحبيب المصطفى تبسمك في وجه اخيك صدقه </a:t>
            </a:r>
          </a:p>
        </p:txBody>
      </p:sp>
      <p:sp>
        <p:nvSpPr>
          <p:cNvPr id="198" name="حسن الخلق"/>
          <p:cNvSpPr txBox="1"/>
          <p:nvPr>
            <p:ph type="title"/>
          </p:nvPr>
        </p:nvSpPr>
        <p:spPr>
          <a:xfrm>
            <a:off x="8241964" y="307060"/>
            <a:ext cx="9779001" cy="1435101"/>
          </a:xfrm>
          <a:prstGeom prst="rect">
            <a:avLst/>
          </a:prstGeom>
        </p:spPr>
        <p:txBody>
          <a:bodyPr/>
          <a:lstStyle>
            <a:lvl1pPr defTabSz="1682453">
              <a:defRPr spc="-160" sz="8004"/>
            </a:lvl1pPr>
          </a:lstStyle>
          <a:p>
            <a:pPr/>
            <a:r>
              <a:t>حسن الخلق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82002" y="839232"/>
            <a:ext cx="18619996" cy="1203753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emini_Generated_Image_49ggzs49ggzs49gg.jpeg" descr="Gemini_Generated_Image_49ggzs49ggzs49gg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88420" y="908211"/>
            <a:ext cx="18407160" cy="118995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emini_Generated_Image_49ggzs49ggzs49gg.jpeg" descr="Gemini_Generated_Image_49ggzs49ggzs49gg.jpe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07022" y="920237"/>
            <a:ext cx="18369956" cy="1187552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3_DynamicLight">
  <a:themeElements>
    <a:clrScheme name="33_Dynamic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3_DynamicLight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3_Dynamic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